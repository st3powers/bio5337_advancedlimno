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5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6BEB62-B7A2-426E-8D50-9ABD1B68D45E}">
  <a:tblStyle styleId="{0D6BEB62-B7A2-426E-8D50-9ABD1B68D45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tcBdr/>
        <a:fill>
          <a:solidFill>
            <a:srgbClr val="CACA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CA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4de2a93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4de2a93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c847100e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c847100e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4de2a933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4de2a933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4de2a933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4de2a933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4de2a933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4de2a933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4de2a9336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72" name="Google Shape;172;g394de2a933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94de2a933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4de2a9336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81" name="Google Shape;181;g394de2a933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94de2a9336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4de2a9336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90" name="Google Shape;190;g394de2a933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94de2a933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4de2a9336_0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98" name="Google Shape;198;g394de2a933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94de2a9336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4de2a9336_0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07" name="Google Shape;207;g394de2a9336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94de2a9336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4de2a9336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16" name="Google Shape;216;g394de2a933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94de2a933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4de2a9336_0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24" name="Google Shape;224;g394de2a9336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394de2a9336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4de2a9336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33" name="Google Shape;233;g394de2a933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94de2a933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4de2a9336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43" name="Google Shape;243;g394de2a9336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394de2a9336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4de2a9336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94de2a9336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bde81f8b1_1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g39bde81f8b1_1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bde81f8b1_1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g39bde81f8b1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bde81f8b1_1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8" name="Google Shape;268;g39bde81f8b1_1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bde81f8b1_1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6" name="Google Shape;276;g39bde81f8b1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bde81f8b1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9bde81f8b1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bde81f8b1_1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0" name="Google Shape;310;g39bde81f8b1_1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bde81f8b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g39bde81f8b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bde81f8b1_1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5" name="Google Shape;325;g39bde81f8b1_1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bde81f8b1_1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39bde81f8b1_1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bde81f8b1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g39bde81f8b1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bde81f8b1_1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1" name="Google Shape;371;g39bde81f8b1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bde81f8b1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8" name="Google Shape;378;g39bde81f8b1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bde81f8b1_1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4" name="Google Shape;384;g39bde81f8b1_1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bde81f8b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2" name="Google Shape;392;g39bde81f8b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930f6eee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9930f6eee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4de2a933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4de2a933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930f6eeee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9930f6eeee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930f6eee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9930f6eee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930f6eee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9930f6eee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930f6eee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9930f6eee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930f6eee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9930f6eee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930f6eee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930f6eee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930f6eee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9930f6eee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930f6eee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9930f6eee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930f6eee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9930f6eee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930f6eee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9930f6eee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930f6eee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9930f6eee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9930f6eee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9930f6eee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930f6eee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9930f6eee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930f6eeee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9930f6eeee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9930f6eee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9930f6eeee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930f6eee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9930f6eee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9930f6eee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9930f6eee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9930f6eee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9930f6eee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930f6eee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930f6eee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9930f6eeee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9930f6eeee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9930f6eee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9930f6eee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930f6eeee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9930f6eeee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9930f6eee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9930f6eee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9930f6eeee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9930f6eeee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4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396400" y="57875"/>
            <a:ext cx="43512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 rot="5400000">
            <a:off x="4623599" y="2285275"/>
            <a:ext cx="58119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 rot="5400000">
            <a:off x="623025" y="370674"/>
            <a:ext cx="58119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3200"/>
            <a:ext cx="662206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575" y="1433333"/>
            <a:ext cx="584835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3200"/>
            <a:ext cx="768861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/>
          <p:nvPr/>
        </p:nvSpPr>
        <p:spPr>
          <a:xfrm>
            <a:off x="1113099" y="1344592"/>
            <a:ext cx="7164600" cy="4572000"/>
          </a:xfrm>
          <a:prstGeom prst="rect">
            <a:avLst/>
          </a:prstGeom>
          <a:solidFill>
            <a:srgbClr val="4472C4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1066800" y="182396"/>
            <a:ext cx="7086600" cy="11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000000"/>
                </a:solidFill>
              </a:rPr>
              <a:t>Inorganic carbon and pH</a:t>
            </a:r>
            <a:endParaRPr sz="4400">
              <a:solidFill>
                <a:srgbClr val="000000"/>
              </a:solidFill>
            </a:endParaRPr>
          </a:p>
        </p:txBody>
      </p:sp>
      <p:pic>
        <p:nvPicPr>
          <p:cNvPr id="161" name="Google Shape;16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4275" y="1346113"/>
            <a:ext cx="6035451" cy="35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3899" y="4985474"/>
            <a:ext cx="2572549" cy="18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/>
          <p:nvPr/>
        </p:nvSpPr>
        <p:spPr>
          <a:xfrm>
            <a:off x="531325" y="204675"/>
            <a:ext cx="57582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pH?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1311875" y="1925475"/>
            <a:ext cx="37791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Power of hydrogen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a pH scale? </a:t>
            </a:r>
            <a:endParaRPr sz="32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69" name="Google Shape;16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2600" y="1366575"/>
            <a:ext cx="3339526" cy="412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/>
          <p:nvPr/>
        </p:nvSpPr>
        <p:spPr>
          <a:xfrm>
            <a:off x="685800" y="400050"/>
            <a:ext cx="7772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Water is a weak acid and weak base</a:t>
            </a:r>
            <a:endParaRPr sz="4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3"/>
          <p:cNvSpPr txBox="1"/>
          <p:nvPr/>
        </p:nvSpPr>
        <p:spPr>
          <a:xfrm>
            <a:off x="2971800" y="2438400"/>
            <a:ext cx="283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           H</a:t>
            </a:r>
            <a:r>
              <a:rPr lang="en" sz="2400" b="0" i="0" u="none" strike="noStrike" cap="none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OH</a:t>
            </a:r>
            <a:r>
              <a:rPr lang="en" sz="2400" b="0" i="0" u="none" strike="noStrike" cap="none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-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7" name="Google Shape;177;p33"/>
          <p:cNvCxnSpPr/>
          <p:nvPr/>
        </p:nvCxnSpPr>
        <p:spPr>
          <a:xfrm>
            <a:off x="3749675" y="2625725"/>
            <a:ext cx="533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178" name="Google Shape;178;p33"/>
          <p:cNvSpPr txBox="1"/>
          <p:nvPr/>
        </p:nvSpPr>
        <p:spPr>
          <a:xfrm>
            <a:off x="843325" y="4354700"/>
            <a:ext cx="7761300" cy="15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*Water dissociates to form acid and base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with equal activities, so does not </a:t>
            </a:r>
            <a:r>
              <a:rPr lang="en" sz="3200" b="1" i="0" u="sng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control</a:t>
            </a:r>
            <a:r>
              <a:rPr lang="en" sz="32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pH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*Pure water (no atmosphere) pH is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/>
          <p:nvPr/>
        </p:nvSpPr>
        <p:spPr>
          <a:xfrm>
            <a:off x="230400" y="95250"/>
            <a:ext cx="8685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Let's put H2O in contact with atmosphere</a:t>
            </a:r>
            <a:endParaRPr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350" y="1242850"/>
            <a:ext cx="4058275" cy="3672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8425" y="1230950"/>
            <a:ext cx="4590850" cy="3591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34"/>
          <p:cNvGraphicFramePr/>
          <p:nvPr/>
        </p:nvGraphicFramePr>
        <p:xfrm>
          <a:off x="2819400" y="48991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{0D6BEB62-B7A2-426E-8D50-9ABD1B68D45E}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Gas</a:t>
                      </a:r>
                      <a:endParaRPr sz="1400" u="none" strike="noStrike" cap="none"/>
                    </a:p>
                  </a:txBody>
                  <a:tcPr marL="91450" marR="91450" marT="45725" marB="45725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Typical Partial Pressure (atm)</a:t>
                      </a:r>
                      <a:endParaRPr sz="1400" u="none" strike="noStrike" cap="none"/>
                    </a:p>
                  </a:txBody>
                  <a:tcPr marL="91450" marR="91450" marT="45725" marB="45725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Solubility (K</a:t>
                      </a:r>
                      <a:r>
                        <a:rPr lang="en" sz="1800" u="none" strike="noStrike" cap="none" baseline="-25000"/>
                        <a:t>H</a:t>
                      </a:r>
                      <a:r>
                        <a:rPr lang="en" sz="1800" u="none" strike="noStrike" cap="none"/>
                        <a:t>; atm/M)</a:t>
                      </a:r>
                      <a:endParaRPr sz="1400" u="none" strike="noStrike" cap="none"/>
                    </a:p>
                  </a:txBody>
                  <a:tcPr marL="91450" marR="91450" marT="45725" marB="45725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mg/L @ STP</a:t>
                      </a:r>
                      <a:endParaRPr sz="1400" u="none" strike="noStrike" cap="none"/>
                    </a:p>
                  </a:txBody>
                  <a:tcPr marL="91450" marR="91450" marT="457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N</a:t>
                      </a:r>
                      <a:r>
                        <a:rPr lang="en" sz="1800" u="none" strike="noStrike" cap="none" baseline="-25000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0.78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1639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13.3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O</a:t>
                      </a:r>
                      <a:r>
                        <a:rPr lang="en" sz="1800" u="none" strike="noStrike" cap="none" baseline="-25000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0.21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769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8.73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CO</a:t>
                      </a:r>
                      <a:r>
                        <a:rPr lang="en" sz="1800" u="none" strike="noStrike" cap="none" baseline="-25000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0.0004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29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/>
                        <a:t>0.165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274" y="1845150"/>
            <a:ext cx="5569851" cy="16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5"/>
          <p:cNvSpPr/>
          <p:nvPr/>
        </p:nvSpPr>
        <p:spPr>
          <a:xfrm>
            <a:off x="618000" y="4321975"/>
            <a:ext cx="8297400" cy="2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Weak acids and bases do not completely dissociate in water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Weak acids and bases are common and control the pH of lakes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5"/>
          <p:cNvSpPr/>
          <p:nvPr/>
        </p:nvSpPr>
        <p:spPr>
          <a:xfrm>
            <a:off x="230400" y="95250"/>
            <a:ext cx="8685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Let's put H2O in contact with atmosphere</a:t>
            </a:r>
            <a:endParaRPr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/>
          <p:nvPr/>
        </p:nvSpPr>
        <p:spPr>
          <a:xfrm>
            <a:off x="197700" y="19050"/>
            <a:ext cx="8835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inorganic carbon equilibrium</a:t>
            </a:r>
            <a:endParaRPr sz="4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36"/>
          <p:cNvPicPr preferRelativeResize="0"/>
          <p:nvPr/>
        </p:nvPicPr>
        <p:blipFill rotWithShape="1">
          <a:blip r:embed="rId3">
            <a:alphaModFix/>
          </a:blip>
          <a:srcRect t="12929"/>
          <a:stretch/>
        </p:blipFill>
        <p:spPr>
          <a:xfrm>
            <a:off x="934975" y="1025500"/>
            <a:ext cx="7146325" cy="16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6338" y="2625825"/>
            <a:ext cx="5943600" cy="3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6"/>
          <p:cNvSpPr/>
          <p:nvPr/>
        </p:nvSpPr>
        <p:spPr>
          <a:xfrm>
            <a:off x="94875" y="6234550"/>
            <a:ext cx="9049200" cy="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*DIC= dissolved inorganic carbon= sum of C in CO2(aq)+H2CO3+HCO3+CO3</a:t>
            </a:r>
            <a:r>
              <a:rPr lang="en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/>
          <p:nvPr/>
        </p:nvSpPr>
        <p:spPr>
          <a:xfrm>
            <a:off x="197700" y="19050"/>
            <a:ext cx="8835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inorganic carbon equilibrium</a:t>
            </a:r>
            <a:endParaRPr sz="4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7"/>
          <p:cNvPicPr preferRelativeResize="0"/>
          <p:nvPr/>
        </p:nvPicPr>
        <p:blipFill rotWithShape="1">
          <a:blip r:embed="rId3">
            <a:alphaModFix/>
          </a:blip>
          <a:srcRect t="12929"/>
          <a:stretch/>
        </p:blipFill>
        <p:spPr>
          <a:xfrm>
            <a:off x="345550" y="1416750"/>
            <a:ext cx="3921650" cy="878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1234" y="2607650"/>
            <a:ext cx="4210275" cy="25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7"/>
          <p:cNvSpPr/>
          <p:nvPr/>
        </p:nvSpPr>
        <p:spPr>
          <a:xfrm>
            <a:off x="4640100" y="1416750"/>
            <a:ext cx="4503900" cy="39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does it matter?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system neutralizes acid (and base)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Algae and microbes require inorganic carbon in photosynthesis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/>
          <p:nvPr/>
        </p:nvSpPr>
        <p:spPr>
          <a:xfrm>
            <a:off x="197700" y="19050"/>
            <a:ext cx="8835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inorganic carbon equilibrium</a:t>
            </a:r>
            <a:endParaRPr sz="4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413" y="1234100"/>
            <a:ext cx="8345574" cy="37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8"/>
          <p:cNvSpPr/>
          <p:nvPr/>
        </p:nvSpPr>
        <p:spPr>
          <a:xfrm>
            <a:off x="284625" y="5319100"/>
            <a:ext cx="8630700" cy="14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*Water in equilibrium with atmosphere does NOT have neutral pH. It has a pH of 5.65. So absent other factors, freshwaters and rain should be mildly acidic.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/>
        </p:nvSpPr>
        <p:spPr>
          <a:xfrm>
            <a:off x="944550" y="310100"/>
            <a:ext cx="72549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Biological activities are tightly connected to the inorganic carbon cycle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5254" y="2346225"/>
            <a:ext cx="7182549" cy="27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 txBox="1"/>
          <p:nvPr/>
        </p:nvSpPr>
        <p:spPr>
          <a:xfrm>
            <a:off x="682475" y="5241525"/>
            <a:ext cx="7639200" cy="11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0" i="0" u="none" strike="noStrike" cap="non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Photosynthesis (P)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3200" b="0" i="0" u="none" strike="noStrike" cap="non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 CO</a:t>
            </a:r>
            <a:r>
              <a:rPr lang="en" sz="3200" b="0" i="0" u="none" strike="noStrike" cap="none" baseline="-25000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3200" b="0" i="0" u="none" strike="noStrike" cap="non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protons from water</a:t>
            </a:r>
            <a:endParaRPr sz="3200" b="0" i="0" u="none" strike="noStrike" cap="none">
              <a:solidFill>
                <a:srgbClr val="00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9"/>
          <p:cNvSpPr txBox="1"/>
          <p:nvPr/>
        </p:nvSpPr>
        <p:spPr>
          <a:xfrm>
            <a:off x="682475" y="1763450"/>
            <a:ext cx="81186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0" i="0" u="none" strike="noStrike" cap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Respiration (R)</a:t>
            </a:r>
            <a:r>
              <a:rPr lang="en" sz="1400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3200" b="0" i="0" u="none" strike="noStrike" cap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CO</a:t>
            </a:r>
            <a:r>
              <a:rPr lang="en" sz="3200" b="0" i="0" u="none" strike="noStrike" cap="none" baseline="-250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3200" b="0" i="0" u="none" strike="noStrike" cap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protons to water</a:t>
            </a:r>
            <a:endParaRPr sz="3200" b="0" i="0" u="none" strike="noStrike" cap="non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>
            <a:spLocks noGrp="1"/>
          </p:cNvSpPr>
          <p:nvPr>
            <p:ph type="title"/>
          </p:nvPr>
        </p:nvSpPr>
        <p:spPr>
          <a:xfrm>
            <a:off x="153825" y="140825"/>
            <a:ext cx="3429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Seasonal dynamics</a:t>
            </a:r>
            <a:endParaRPr/>
          </a:p>
        </p:txBody>
      </p:sp>
      <p:pic>
        <p:nvPicPr>
          <p:cNvPr id="237" name="Google Shape;237;p40" descr="horne2"/>
          <p:cNvPicPr preferRelativeResize="0"/>
          <p:nvPr/>
        </p:nvPicPr>
        <p:blipFill rotWithShape="1">
          <a:blip r:embed="rId3">
            <a:alphaModFix/>
          </a:blip>
          <a:srcRect r="2095" b="50600"/>
          <a:stretch/>
        </p:blipFill>
        <p:spPr>
          <a:xfrm>
            <a:off x="2676275" y="1283825"/>
            <a:ext cx="6214724" cy="49423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40"/>
          <p:cNvCxnSpPr/>
          <p:nvPr/>
        </p:nvCxnSpPr>
        <p:spPr>
          <a:xfrm rot="10800000" flipH="1">
            <a:off x="2764875" y="2317675"/>
            <a:ext cx="3279900" cy="623400"/>
          </a:xfrm>
          <a:prstGeom prst="straightConnector1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239" name="Google Shape;239;p40"/>
          <p:cNvSpPr txBox="1"/>
          <p:nvPr/>
        </p:nvSpPr>
        <p:spPr>
          <a:xfrm>
            <a:off x="107525" y="2978775"/>
            <a:ext cx="3741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Drawdown of free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summer and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buildup in the hypo-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limnion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40"/>
          <p:cNvCxnSpPr/>
          <p:nvPr/>
        </p:nvCxnSpPr>
        <p:spPr>
          <a:xfrm>
            <a:off x="2900425" y="4120225"/>
            <a:ext cx="3564600" cy="6369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triangle" w="lg" len="lg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/>
              <a:t>Generalized DIC (dissolved inorganic carbon) profiles in summer</a:t>
            </a:r>
            <a:endParaRPr/>
          </a:p>
        </p:txBody>
      </p:sp>
      <p:pic>
        <p:nvPicPr>
          <p:cNvPr id="247" name="Google Shape;247;p41" descr="wetzel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0" y="1905000"/>
            <a:ext cx="4392613" cy="4724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/>
        </p:nvSpPr>
        <p:spPr>
          <a:xfrm>
            <a:off x="6477000" y="3657600"/>
            <a:ext cx="2394000" cy="646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ΣCO2 =H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+CO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HCO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+CO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1"/>
          <p:cNvSpPr txBox="1"/>
          <p:nvPr/>
        </p:nvSpPr>
        <p:spPr>
          <a:xfrm>
            <a:off x="6613525" y="6056313"/>
            <a:ext cx="183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Wetzel Fig. 11.3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3" descr="Image result for aquatic primary produc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870" y="612396"/>
            <a:ext cx="8763571" cy="560655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3"/>
          <p:cNvSpPr txBox="1"/>
          <p:nvPr/>
        </p:nvSpPr>
        <p:spPr>
          <a:xfrm>
            <a:off x="1996780" y="300875"/>
            <a:ext cx="59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Oxygen and Metabolism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43" descr="Image result for google logo 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101" y="234675"/>
            <a:ext cx="1757485" cy="594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/>
        </p:nvSpPr>
        <p:spPr>
          <a:xfrm>
            <a:off x="654150" y="932475"/>
            <a:ext cx="7835700" cy="30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There's a microbial metabolism for every molecule.</a:t>
            </a:r>
            <a:endParaRPr sz="36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/>
          <p:nvPr/>
        </p:nvSpPr>
        <p:spPr>
          <a:xfrm>
            <a:off x="3406098" y="4572000"/>
            <a:ext cx="5352000" cy="31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7934" y="46600"/>
            <a:ext cx="4581341" cy="676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6000" y="1735854"/>
            <a:ext cx="3500650" cy="154219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5"/>
          <p:cNvSpPr/>
          <p:nvPr/>
        </p:nvSpPr>
        <p:spPr>
          <a:xfrm>
            <a:off x="4786125" y="417000"/>
            <a:ext cx="20823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O2- driven reduction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4134" y="46600"/>
            <a:ext cx="4581341" cy="676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6"/>
          <p:cNvSpPr/>
          <p:nvPr/>
        </p:nvSpPr>
        <p:spPr>
          <a:xfrm>
            <a:off x="3530850" y="4755000"/>
            <a:ext cx="20823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6"/>
          <p:cNvSpPr/>
          <p:nvPr/>
        </p:nvSpPr>
        <p:spPr>
          <a:xfrm>
            <a:off x="3590000" y="908625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6"/>
          <p:cNvSpPr/>
          <p:nvPr/>
        </p:nvSpPr>
        <p:spPr>
          <a:xfrm>
            <a:off x="2965425" y="4516800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6"/>
          <p:cNvSpPr/>
          <p:nvPr/>
        </p:nvSpPr>
        <p:spPr>
          <a:xfrm>
            <a:off x="2102575" y="3923300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6"/>
          <p:cNvSpPr/>
          <p:nvPr/>
        </p:nvSpPr>
        <p:spPr>
          <a:xfrm>
            <a:off x="1995975" y="3599150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6"/>
          <p:cNvSpPr/>
          <p:nvPr/>
        </p:nvSpPr>
        <p:spPr>
          <a:xfrm>
            <a:off x="2283050" y="2984950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6"/>
          <p:cNvSpPr/>
          <p:nvPr/>
        </p:nvSpPr>
        <p:spPr>
          <a:xfrm>
            <a:off x="2166100" y="2681500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6"/>
          <p:cNvSpPr/>
          <p:nvPr/>
        </p:nvSpPr>
        <p:spPr>
          <a:xfrm>
            <a:off x="2283050" y="2378050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6"/>
          <p:cNvSpPr/>
          <p:nvPr/>
        </p:nvSpPr>
        <p:spPr>
          <a:xfrm>
            <a:off x="2283050" y="2036338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6"/>
          <p:cNvSpPr/>
          <p:nvPr/>
        </p:nvSpPr>
        <p:spPr>
          <a:xfrm>
            <a:off x="2745275" y="1795075"/>
            <a:ext cx="25866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6"/>
          <p:cNvSpPr/>
          <p:nvPr/>
        </p:nvSpPr>
        <p:spPr>
          <a:xfrm>
            <a:off x="2745275" y="1553800"/>
            <a:ext cx="25014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6"/>
          <p:cNvSpPr/>
          <p:nvPr/>
        </p:nvSpPr>
        <p:spPr>
          <a:xfrm>
            <a:off x="3530850" y="5061275"/>
            <a:ext cx="20823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6"/>
          <p:cNvSpPr/>
          <p:nvPr/>
        </p:nvSpPr>
        <p:spPr>
          <a:xfrm>
            <a:off x="2858100" y="4220050"/>
            <a:ext cx="20823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6"/>
          <p:cNvSpPr/>
          <p:nvPr/>
        </p:nvSpPr>
        <p:spPr>
          <a:xfrm>
            <a:off x="3311275" y="1212100"/>
            <a:ext cx="20823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6"/>
          <p:cNvSpPr/>
          <p:nvPr/>
        </p:nvSpPr>
        <p:spPr>
          <a:xfrm>
            <a:off x="3590000" y="729550"/>
            <a:ext cx="20823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6"/>
          <p:cNvSpPr/>
          <p:nvPr/>
        </p:nvSpPr>
        <p:spPr>
          <a:xfrm>
            <a:off x="4862325" y="417000"/>
            <a:ext cx="2082300" cy="2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O2- driven reduction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6"/>
          <p:cNvSpPr/>
          <p:nvPr/>
        </p:nvSpPr>
        <p:spPr>
          <a:xfrm>
            <a:off x="5551975" y="729550"/>
            <a:ext cx="3140700" cy="137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Photosynthesis transfers electrons from water to energy to CO2, forming organic matter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6"/>
          <p:cNvSpPr/>
          <p:nvPr/>
        </p:nvSpPr>
        <p:spPr>
          <a:xfrm>
            <a:off x="5884850" y="3498800"/>
            <a:ext cx="3140700" cy="137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Aerobic respiration transfers electrons from organic matter to oxygen, forming water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/>
        </p:nvSpPr>
        <p:spPr>
          <a:xfrm>
            <a:off x="2511600" y="2080800"/>
            <a:ext cx="3609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0" i="0" u="none" strike="noStrike" cap="non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Photosynthesis (P) </a:t>
            </a:r>
            <a:endParaRPr sz="3200" b="0" i="0" u="none" strike="noStrike" cap="none">
              <a:solidFill>
                <a:srgbClr val="00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7"/>
          <p:cNvSpPr/>
          <p:nvPr/>
        </p:nvSpPr>
        <p:spPr>
          <a:xfrm>
            <a:off x="3312086" y="2722313"/>
            <a:ext cx="1676400" cy="381000"/>
          </a:xfrm>
          <a:prstGeom prst="notchedRightArrow">
            <a:avLst>
              <a:gd name="adj1" fmla="val 50000"/>
              <a:gd name="adj2" fmla="val 11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7"/>
          <p:cNvSpPr/>
          <p:nvPr/>
        </p:nvSpPr>
        <p:spPr>
          <a:xfrm rot="10800000">
            <a:off x="3200400" y="4086036"/>
            <a:ext cx="1676400" cy="381000"/>
          </a:xfrm>
          <a:prstGeom prst="notchedRightArrow">
            <a:avLst>
              <a:gd name="adj1" fmla="val 50000"/>
              <a:gd name="adj2" fmla="val 11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7"/>
          <p:cNvSpPr txBox="1"/>
          <p:nvPr/>
        </p:nvSpPr>
        <p:spPr>
          <a:xfrm>
            <a:off x="2822100" y="4467025"/>
            <a:ext cx="4292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0" i="0" u="none" strike="noStrike" cap="non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Respiration (R)</a:t>
            </a:r>
            <a:endParaRPr sz="3200" b="0" i="0" u="none" strike="noStrike" cap="none">
              <a:solidFill>
                <a:srgbClr val="00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47"/>
          <p:cNvSpPr txBox="1"/>
          <p:nvPr/>
        </p:nvSpPr>
        <p:spPr>
          <a:xfrm>
            <a:off x="842200" y="234900"/>
            <a:ext cx="7278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Photosynthesis and Respiration and contribute to </a:t>
            </a:r>
            <a:r>
              <a:rPr lang="en" sz="2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Ecosystem Metabolism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7"/>
          <p:cNvSpPr/>
          <p:nvPr/>
        </p:nvSpPr>
        <p:spPr>
          <a:xfrm rot="1742469">
            <a:off x="-83625" y="4564926"/>
            <a:ext cx="3839141" cy="64985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3"/>
                </a:solidFill>
                <a:latin typeface="Calibri"/>
              </a:rPr>
              <a:t>Ecosystem Metabolism</a:t>
            </a:r>
          </a:p>
        </p:txBody>
      </p:sp>
      <p:pic>
        <p:nvPicPr>
          <p:cNvPr id="307" name="Google Shape;307;p47"/>
          <p:cNvPicPr preferRelativeResize="0"/>
          <p:nvPr/>
        </p:nvPicPr>
        <p:blipFill rotWithShape="1">
          <a:blip r:embed="rId3">
            <a:alphaModFix/>
          </a:blip>
          <a:srcRect l="6701" r="-3403" b="-47297"/>
          <a:stretch/>
        </p:blipFill>
        <p:spPr>
          <a:xfrm>
            <a:off x="748900" y="3165546"/>
            <a:ext cx="7690424" cy="13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8" descr="Image result for Howard Od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319" y="789510"/>
            <a:ext cx="2448711" cy="3628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 descr="Screen Clipp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2935" y="145273"/>
            <a:ext cx="4518174" cy="128847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8"/>
          <p:cNvSpPr txBox="1"/>
          <p:nvPr/>
        </p:nvSpPr>
        <p:spPr>
          <a:xfrm>
            <a:off x="4749835" y="1295247"/>
            <a:ext cx="2384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Limnology and Oceanography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48" descr="Screen Clippi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2935" y="2373996"/>
            <a:ext cx="4509952" cy="793096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8"/>
          <p:cNvSpPr/>
          <p:nvPr/>
        </p:nvSpPr>
        <p:spPr>
          <a:xfrm>
            <a:off x="3406098" y="4572000"/>
            <a:ext cx="5352000" cy="31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4488492" cy="6553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0900" y="1872300"/>
            <a:ext cx="4488500" cy="1437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"/>
          <p:cNvSpPr txBox="1"/>
          <p:nvPr/>
        </p:nvSpPr>
        <p:spPr>
          <a:xfrm>
            <a:off x="4981313" y="3618665"/>
            <a:ext cx="3650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…controls the variation in DO, CO</a:t>
            </a:r>
            <a:r>
              <a:rPr lang="en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pH in many waterbodies!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0"/>
          <p:cNvSpPr txBox="1"/>
          <p:nvPr/>
        </p:nvSpPr>
        <p:spPr>
          <a:xfrm>
            <a:off x="226200" y="931500"/>
            <a:ext cx="86916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Ecosystem Production (NEP) = Gross Primary Production (GPP) and community Respiration (R)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50"/>
          <p:cNvPicPr preferRelativeResize="0"/>
          <p:nvPr/>
        </p:nvPicPr>
        <p:blipFill rotWithShape="1">
          <a:blip r:embed="rId3">
            <a:alphaModFix/>
          </a:blip>
          <a:srcRect t="37377" b="42655"/>
          <a:stretch/>
        </p:blipFill>
        <p:spPr>
          <a:xfrm>
            <a:off x="152400" y="2601825"/>
            <a:ext cx="4488500" cy="130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/>
          <p:nvPr/>
        </p:nvSpPr>
        <p:spPr>
          <a:xfrm>
            <a:off x="965596" y="159759"/>
            <a:ext cx="7417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Dissolved Oxygen Method of Gross Primary Production, Respiration, NEP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1"/>
          <p:cNvSpPr txBox="1"/>
          <p:nvPr/>
        </p:nvSpPr>
        <p:spPr>
          <a:xfrm>
            <a:off x="559578" y="1643806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changes in dissolved oxygen concentrations (DO)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initial concentration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L= “light” bottle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D= “dark” bottle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production = DO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DO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24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Respiration= DO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Do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endParaRPr sz="24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Is Negative due to oxygen consumption)</a:t>
            </a:r>
            <a:endParaRPr sz="18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GPP= DO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-DO</a:t>
            </a:r>
            <a:r>
              <a:rPr lang="en" sz="24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51" descr="wwr2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2826" y="2857931"/>
            <a:ext cx="2470313" cy="351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2"/>
          <p:cNvSpPr/>
          <p:nvPr/>
        </p:nvSpPr>
        <p:spPr>
          <a:xfrm>
            <a:off x="486561" y="226502"/>
            <a:ext cx="8137200" cy="28941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2"/>
          <p:cNvSpPr txBox="1"/>
          <p:nvPr/>
        </p:nvSpPr>
        <p:spPr>
          <a:xfrm rot="-5400000">
            <a:off x="-302170" y="1371994"/>
            <a:ext cx="120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D.O. mg/L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2"/>
          <p:cNvSpPr txBox="1"/>
          <p:nvPr/>
        </p:nvSpPr>
        <p:spPr>
          <a:xfrm rot="5400000">
            <a:off x="8204517" y="1372080"/>
            <a:ext cx="120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n" sz="1800" b="0" i="0" u="none" strike="noStrike" cap="none" baseline="-25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mg/L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2"/>
          <p:cNvSpPr/>
          <p:nvPr/>
        </p:nvSpPr>
        <p:spPr>
          <a:xfrm>
            <a:off x="486561" y="269891"/>
            <a:ext cx="8142083" cy="2562199"/>
          </a:xfrm>
          <a:custGeom>
            <a:avLst/>
            <a:gdLst/>
            <a:ahLst/>
            <a:cxnLst/>
            <a:rect l="l" t="t" r="r" b="b"/>
            <a:pathLst>
              <a:path w="8162489" h="2562199" extrusionOk="0">
                <a:moveTo>
                  <a:pt x="0" y="996846"/>
                </a:moveTo>
                <a:cubicBezTo>
                  <a:pt x="105561" y="621439"/>
                  <a:pt x="211123" y="246032"/>
                  <a:pt x="436228" y="426395"/>
                </a:cubicBezTo>
                <a:cubicBezTo>
                  <a:pt x="661333" y="606758"/>
                  <a:pt x="1044430" y="2143342"/>
                  <a:pt x="1350628" y="2079026"/>
                </a:cubicBezTo>
                <a:cubicBezTo>
                  <a:pt x="1656826" y="2014710"/>
                  <a:pt x="1965821" y="-39194"/>
                  <a:pt x="2273417" y="40501"/>
                </a:cubicBezTo>
                <a:cubicBezTo>
                  <a:pt x="2581013" y="120196"/>
                  <a:pt x="2894202" y="2443948"/>
                  <a:pt x="3196206" y="2557199"/>
                </a:cubicBezTo>
                <a:cubicBezTo>
                  <a:pt x="3498210" y="2670451"/>
                  <a:pt x="3782037" y="823474"/>
                  <a:pt x="4085439" y="720010"/>
                </a:cubicBezTo>
                <a:cubicBezTo>
                  <a:pt x="4388841" y="616546"/>
                  <a:pt x="4707623" y="1989543"/>
                  <a:pt x="5016617" y="1936413"/>
                </a:cubicBezTo>
                <a:cubicBezTo>
                  <a:pt x="5325611" y="1883283"/>
                  <a:pt x="5633208" y="342505"/>
                  <a:pt x="5939406" y="401228"/>
                </a:cubicBezTo>
                <a:cubicBezTo>
                  <a:pt x="6245604" y="459951"/>
                  <a:pt x="6546210" y="2340483"/>
                  <a:pt x="6853806" y="2288751"/>
                </a:cubicBezTo>
                <a:cubicBezTo>
                  <a:pt x="7161402" y="2237019"/>
                  <a:pt x="7566870" y="367672"/>
                  <a:pt x="7784984" y="90835"/>
                </a:cubicBezTo>
                <a:cubicBezTo>
                  <a:pt x="8003098" y="-186002"/>
                  <a:pt x="8082793" y="220864"/>
                  <a:pt x="8162489" y="627731"/>
                </a:cubicBezTo>
              </a:path>
            </a:pathLst>
          </a:cu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2"/>
          <p:cNvSpPr txBox="1"/>
          <p:nvPr/>
        </p:nvSpPr>
        <p:spPr>
          <a:xfrm>
            <a:off x="117229" y="3164093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2"/>
          <p:cNvSpPr txBox="1"/>
          <p:nvPr/>
        </p:nvSpPr>
        <p:spPr>
          <a:xfrm>
            <a:off x="1024638" y="3164093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2"/>
          <p:cNvSpPr txBox="1"/>
          <p:nvPr/>
        </p:nvSpPr>
        <p:spPr>
          <a:xfrm>
            <a:off x="1941665" y="3164093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2"/>
          <p:cNvSpPr txBox="1"/>
          <p:nvPr/>
        </p:nvSpPr>
        <p:spPr>
          <a:xfrm>
            <a:off x="2849074" y="3164093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2"/>
          <p:cNvSpPr txBox="1"/>
          <p:nvPr/>
        </p:nvSpPr>
        <p:spPr>
          <a:xfrm>
            <a:off x="3775730" y="3164093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2"/>
          <p:cNvSpPr txBox="1"/>
          <p:nvPr/>
        </p:nvSpPr>
        <p:spPr>
          <a:xfrm>
            <a:off x="4683139" y="3164093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2"/>
          <p:cNvSpPr txBox="1"/>
          <p:nvPr/>
        </p:nvSpPr>
        <p:spPr>
          <a:xfrm>
            <a:off x="5600166" y="3164093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2"/>
          <p:cNvSpPr txBox="1"/>
          <p:nvPr/>
        </p:nvSpPr>
        <p:spPr>
          <a:xfrm>
            <a:off x="6507575" y="3164093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2"/>
          <p:cNvSpPr txBox="1"/>
          <p:nvPr/>
        </p:nvSpPr>
        <p:spPr>
          <a:xfrm>
            <a:off x="7317967" y="3164093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2"/>
          <p:cNvSpPr txBox="1"/>
          <p:nvPr/>
        </p:nvSpPr>
        <p:spPr>
          <a:xfrm>
            <a:off x="8225376" y="3164093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2"/>
          <p:cNvSpPr/>
          <p:nvPr/>
        </p:nvSpPr>
        <p:spPr>
          <a:xfrm>
            <a:off x="478172" y="745791"/>
            <a:ext cx="8145711" cy="2209045"/>
          </a:xfrm>
          <a:custGeom>
            <a:avLst/>
            <a:gdLst/>
            <a:ahLst/>
            <a:cxnLst/>
            <a:rect l="l" t="t" r="r" b="b"/>
            <a:pathLst>
              <a:path w="8145711" h="2209045" extrusionOk="0">
                <a:moveTo>
                  <a:pt x="0" y="848117"/>
                </a:moveTo>
                <a:cubicBezTo>
                  <a:pt x="99270" y="1189269"/>
                  <a:pt x="198540" y="1530421"/>
                  <a:pt x="419450" y="1460513"/>
                </a:cubicBezTo>
                <a:cubicBezTo>
                  <a:pt x="640360" y="1390605"/>
                  <a:pt x="1024856" y="364351"/>
                  <a:pt x="1325461" y="428667"/>
                </a:cubicBezTo>
                <a:cubicBezTo>
                  <a:pt x="1626066" y="492983"/>
                  <a:pt x="1916885" y="1917713"/>
                  <a:pt x="2223083" y="1846407"/>
                </a:cubicBezTo>
                <a:cubicBezTo>
                  <a:pt x="2529281" y="1775101"/>
                  <a:pt x="2855054" y="42774"/>
                  <a:pt x="3162650" y="829"/>
                </a:cubicBezTo>
                <a:cubicBezTo>
                  <a:pt x="3470246" y="-41116"/>
                  <a:pt x="3765259" y="1520634"/>
                  <a:pt x="4068661" y="1594737"/>
                </a:cubicBezTo>
                <a:cubicBezTo>
                  <a:pt x="4372063" y="1668840"/>
                  <a:pt x="4672668" y="402102"/>
                  <a:pt x="4983061" y="445445"/>
                </a:cubicBezTo>
                <a:cubicBezTo>
                  <a:pt x="5293454" y="488788"/>
                  <a:pt x="5623421" y="1917713"/>
                  <a:pt x="5931017" y="1854796"/>
                </a:cubicBezTo>
                <a:cubicBezTo>
                  <a:pt x="6238613" y="1791879"/>
                  <a:pt x="6525237" y="25996"/>
                  <a:pt x="6828639" y="67941"/>
                </a:cubicBezTo>
                <a:cubicBezTo>
                  <a:pt x="7132041" y="109886"/>
                  <a:pt x="7531916" y="1831028"/>
                  <a:pt x="7751428" y="2106466"/>
                </a:cubicBezTo>
                <a:cubicBezTo>
                  <a:pt x="7970940" y="2381904"/>
                  <a:pt x="8058325" y="2051238"/>
                  <a:pt x="8145711" y="1720572"/>
                </a:cubicBezTo>
              </a:path>
            </a:pathLst>
          </a:custGeom>
          <a:noFill/>
          <a:ln w="12700" cap="flat" cmpd="sng">
            <a:solidFill>
              <a:schemeClr val="accent6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2"/>
          <p:cNvSpPr/>
          <p:nvPr/>
        </p:nvSpPr>
        <p:spPr>
          <a:xfrm>
            <a:off x="487959" y="3474443"/>
            <a:ext cx="8137200" cy="28941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2"/>
          <p:cNvSpPr txBox="1"/>
          <p:nvPr/>
        </p:nvSpPr>
        <p:spPr>
          <a:xfrm rot="-5400000">
            <a:off x="72379" y="4642146"/>
            <a:ext cx="45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2"/>
          <p:cNvSpPr txBox="1"/>
          <p:nvPr/>
        </p:nvSpPr>
        <p:spPr>
          <a:xfrm>
            <a:off x="118627" y="6412034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2"/>
          <p:cNvSpPr txBox="1"/>
          <p:nvPr/>
        </p:nvSpPr>
        <p:spPr>
          <a:xfrm>
            <a:off x="1026036" y="6412034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52"/>
          <p:cNvSpPr txBox="1"/>
          <p:nvPr/>
        </p:nvSpPr>
        <p:spPr>
          <a:xfrm>
            <a:off x="1943063" y="6412034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2"/>
          <p:cNvSpPr txBox="1"/>
          <p:nvPr/>
        </p:nvSpPr>
        <p:spPr>
          <a:xfrm>
            <a:off x="2850472" y="6412034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2"/>
          <p:cNvSpPr txBox="1"/>
          <p:nvPr/>
        </p:nvSpPr>
        <p:spPr>
          <a:xfrm>
            <a:off x="3777128" y="6412034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2"/>
          <p:cNvSpPr txBox="1"/>
          <p:nvPr/>
        </p:nvSpPr>
        <p:spPr>
          <a:xfrm>
            <a:off x="4684537" y="6412034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2"/>
          <p:cNvSpPr txBox="1"/>
          <p:nvPr/>
        </p:nvSpPr>
        <p:spPr>
          <a:xfrm>
            <a:off x="5601564" y="6412034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2"/>
          <p:cNvSpPr txBox="1"/>
          <p:nvPr/>
        </p:nvSpPr>
        <p:spPr>
          <a:xfrm>
            <a:off x="6508973" y="6412034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2"/>
          <p:cNvSpPr txBox="1"/>
          <p:nvPr/>
        </p:nvSpPr>
        <p:spPr>
          <a:xfrm>
            <a:off x="7319365" y="6412034"/>
            <a:ext cx="787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2"/>
          <p:cNvSpPr txBox="1"/>
          <p:nvPr/>
        </p:nvSpPr>
        <p:spPr>
          <a:xfrm>
            <a:off x="8226774" y="6412034"/>
            <a:ext cx="79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2"/>
          <p:cNvSpPr/>
          <p:nvPr/>
        </p:nvSpPr>
        <p:spPr>
          <a:xfrm>
            <a:off x="478172" y="3975927"/>
            <a:ext cx="8145711" cy="1494194"/>
          </a:xfrm>
          <a:custGeom>
            <a:avLst/>
            <a:gdLst/>
            <a:ahLst/>
            <a:cxnLst/>
            <a:rect l="l" t="t" r="r" b="b"/>
            <a:pathLst>
              <a:path w="8145711" h="1494194" extrusionOk="0">
                <a:moveTo>
                  <a:pt x="0" y="621240"/>
                </a:moveTo>
                <a:cubicBezTo>
                  <a:pt x="102066" y="381454"/>
                  <a:pt x="204133" y="141669"/>
                  <a:pt x="427839" y="252124"/>
                </a:cubicBezTo>
                <a:cubicBezTo>
                  <a:pt x="651545" y="362579"/>
                  <a:pt x="1040235" y="1325915"/>
                  <a:pt x="1342239" y="1283970"/>
                </a:cubicBezTo>
                <a:cubicBezTo>
                  <a:pt x="1644243" y="1242025"/>
                  <a:pt x="1937857" y="-27508"/>
                  <a:pt x="2239861" y="455"/>
                </a:cubicBezTo>
                <a:cubicBezTo>
                  <a:pt x="2541865" y="28418"/>
                  <a:pt x="2850859" y="1373453"/>
                  <a:pt x="3154261" y="1451750"/>
                </a:cubicBezTo>
                <a:cubicBezTo>
                  <a:pt x="3457663" y="1530047"/>
                  <a:pt x="3751278" y="502396"/>
                  <a:pt x="4060272" y="470238"/>
                </a:cubicBezTo>
                <a:cubicBezTo>
                  <a:pt x="4369267" y="438080"/>
                  <a:pt x="4707623" y="1282572"/>
                  <a:pt x="5008228" y="1258803"/>
                </a:cubicBezTo>
                <a:cubicBezTo>
                  <a:pt x="5308834" y="1235034"/>
                  <a:pt x="5563300" y="288476"/>
                  <a:pt x="5863905" y="327625"/>
                </a:cubicBezTo>
                <a:cubicBezTo>
                  <a:pt x="6164510" y="366774"/>
                  <a:pt x="6501468" y="1521658"/>
                  <a:pt x="6811861" y="1493695"/>
                </a:cubicBezTo>
                <a:cubicBezTo>
                  <a:pt x="7122254" y="1465732"/>
                  <a:pt x="7503953" y="301060"/>
                  <a:pt x="7726261" y="159845"/>
                </a:cubicBezTo>
                <a:cubicBezTo>
                  <a:pt x="7948569" y="18630"/>
                  <a:pt x="8047140" y="332518"/>
                  <a:pt x="8145711" y="646407"/>
                </a:cubicBez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04913"/>
            <a:ext cx="4838700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3"/>
          <p:cNvPicPr preferRelativeResize="0"/>
          <p:nvPr/>
        </p:nvPicPr>
        <p:blipFill rotWithShape="1">
          <a:blip r:embed="rId4">
            <a:alphaModFix/>
          </a:blip>
          <a:srcRect l="48083" t="21447" r="26363" b="26558"/>
          <a:stretch/>
        </p:blipFill>
        <p:spPr>
          <a:xfrm>
            <a:off x="4761125" y="108871"/>
            <a:ext cx="4276625" cy="34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3"/>
          <p:cNvPicPr preferRelativeResize="0"/>
          <p:nvPr/>
        </p:nvPicPr>
        <p:blipFill rotWithShape="1">
          <a:blip r:embed="rId5">
            <a:alphaModFix/>
          </a:blip>
          <a:srcRect l="31313" t="13035"/>
          <a:stretch/>
        </p:blipFill>
        <p:spPr>
          <a:xfrm>
            <a:off x="4890288" y="3716625"/>
            <a:ext cx="4018300" cy="297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4075" y="152400"/>
            <a:ext cx="5603462" cy="6553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80666"/>
            <a:ext cx="3730224" cy="171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55"/>
          <p:cNvPicPr preferRelativeResize="0"/>
          <p:nvPr/>
        </p:nvPicPr>
        <p:blipFill rotWithShape="1">
          <a:blip r:embed="rId3">
            <a:alphaModFix/>
          </a:blip>
          <a:srcRect l="67519"/>
          <a:stretch/>
        </p:blipFill>
        <p:spPr>
          <a:xfrm>
            <a:off x="4436624" y="59150"/>
            <a:ext cx="2422527" cy="579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5"/>
          <p:cNvPicPr preferRelativeResize="0"/>
          <p:nvPr/>
        </p:nvPicPr>
        <p:blipFill rotWithShape="1">
          <a:blip r:embed="rId3">
            <a:alphaModFix/>
          </a:blip>
          <a:srcRect r="74444"/>
          <a:stretch/>
        </p:blipFill>
        <p:spPr>
          <a:xfrm>
            <a:off x="2220375" y="59150"/>
            <a:ext cx="1906102" cy="579917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5"/>
          <p:cNvSpPr/>
          <p:nvPr/>
        </p:nvSpPr>
        <p:spPr>
          <a:xfrm>
            <a:off x="6121075" y="2421350"/>
            <a:ext cx="631500" cy="240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5"/>
          <p:cNvSpPr txBox="1"/>
          <p:nvPr/>
        </p:nvSpPr>
        <p:spPr>
          <a:xfrm>
            <a:off x="3047325" y="5858325"/>
            <a:ext cx="22917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Days since ice-on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6"/>
          <p:cNvSpPr/>
          <p:nvPr/>
        </p:nvSpPr>
        <p:spPr>
          <a:xfrm>
            <a:off x="6121075" y="2421350"/>
            <a:ext cx="631500" cy="240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6"/>
          <p:cNvSpPr txBox="1"/>
          <p:nvPr/>
        </p:nvSpPr>
        <p:spPr>
          <a:xfrm>
            <a:off x="414300" y="3323725"/>
            <a:ext cx="83154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sng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Highlights of this week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Lake dissolved oxygen ~ temperature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Oxygen varies day/night and seasonally through tight coupling with biological processes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Hypoxia/anoxia can happen with important consequences to organisms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/>
          <p:nvPr/>
        </p:nvSpPr>
        <p:spPr>
          <a:xfrm>
            <a:off x="1113099" y="1344592"/>
            <a:ext cx="7164600" cy="4572000"/>
          </a:xfrm>
          <a:prstGeom prst="rect">
            <a:avLst/>
          </a:prstGeom>
          <a:solidFill>
            <a:srgbClr val="4472C4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0"/>
          <p:cNvSpPr/>
          <p:nvPr/>
        </p:nvSpPr>
        <p:spPr>
          <a:xfrm>
            <a:off x="4536000" y="426250"/>
            <a:ext cx="4045500" cy="500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62"/>
          <p:cNvSpPr/>
          <p:nvPr/>
        </p:nvSpPr>
        <p:spPr>
          <a:xfrm>
            <a:off x="1319750" y="5914100"/>
            <a:ext cx="6771300" cy="79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3047" cy="655320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4"/>
          <p:cNvSpPr/>
          <p:nvPr/>
        </p:nvSpPr>
        <p:spPr>
          <a:xfrm>
            <a:off x="302950" y="5517475"/>
            <a:ext cx="8307600" cy="118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3047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44252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6"/>
          <p:cNvSpPr/>
          <p:nvPr/>
        </p:nvSpPr>
        <p:spPr>
          <a:xfrm>
            <a:off x="302950" y="5128050"/>
            <a:ext cx="8307600" cy="157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7"/>
          <p:cNvSpPr/>
          <p:nvPr/>
        </p:nvSpPr>
        <p:spPr>
          <a:xfrm>
            <a:off x="656325" y="123375"/>
            <a:ext cx="8307600" cy="72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67"/>
          <p:cNvSpPr/>
          <p:nvPr/>
        </p:nvSpPr>
        <p:spPr>
          <a:xfrm>
            <a:off x="736625" y="3939150"/>
            <a:ext cx="8307600" cy="72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81979" cy="6553198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71"/>
          <p:cNvSpPr/>
          <p:nvPr/>
        </p:nvSpPr>
        <p:spPr>
          <a:xfrm>
            <a:off x="657300" y="5713150"/>
            <a:ext cx="6532500" cy="9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82140" cy="6553202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72"/>
          <p:cNvSpPr/>
          <p:nvPr/>
        </p:nvSpPr>
        <p:spPr>
          <a:xfrm>
            <a:off x="657300" y="5713150"/>
            <a:ext cx="6532500" cy="9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33232" cy="6553199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3"/>
          <p:cNvSpPr/>
          <p:nvPr/>
        </p:nvSpPr>
        <p:spPr>
          <a:xfrm>
            <a:off x="281300" y="5236225"/>
            <a:ext cx="6908400" cy="146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6170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3350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599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On-screen Show (4:3)</PresentationFormat>
  <Paragraphs>111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Courier New</vt:lpstr>
      <vt:lpstr>Times</vt:lpstr>
      <vt:lpstr>Times New Roman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Seasonal dynamics</vt:lpstr>
      <vt:lpstr>Generalized DIC (dissolved inorganic carbon) profiles in summer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stephen powers</cp:lastModifiedBy>
  <cp:revision>1</cp:revision>
  <dcterms:modified xsi:type="dcterms:W3CDTF">2025-11-18T14:27:52Z</dcterms:modified>
</cp:coreProperties>
</file>